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516716" y="1103412"/>
            <a:ext cx="4110567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0"/>
              </a:spcAft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다낭 여행 플래너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3810000" y="2354163"/>
            <a:ext cx="1524000" cy="76200"/>
          </a:xfrm>
          <a:prstGeom prst="roundRect">
            <a:avLst>
              <a:gd name="adj" fmla="val 50000"/>
            </a:avLst>
          </a:prstGeom>
          <a:solidFill>
            <a:srgbClr val="FE444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899657" y="2684264"/>
            <a:ext cx="1344686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0"/>
              </a:spcAft>
              <a:buNone/>
            </a:pP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화면설계서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281812" y="3563689"/>
            <a:ext cx="2580376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Travel Plan Web Application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702007" y="3801814"/>
            <a:ext cx="173998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2026.01.15 - 01.19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257300"/>
          </a:xfrm>
          <a:prstGeom prst="rect">
            <a:avLst/>
          </a:prstGeom>
          <a:solidFill>
            <a:srgbClr val="5EA8A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47625" y="0"/>
            <a:ext cx="0" cy="1257300"/>
          </a:xfrm>
          <a:prstGeom prst="line">
            <a:avLst/>
          </a:prstGeom>
          <a:noFill/>
          <a:ln w="95250">
            <a:solidFill>
              <a:srgbClr val="FE444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03200" y="381000"/>
            <a:ext cx="8193506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프로젝트 개요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07950" y="1638300"/>
            <a:ext cx="8290661" cy="406301"/>
          </a:xfrm>
          <a:prstGeom prst="rect">
            <a:avLst/>
          </a:prstGeom>
          <a:noFill/>
          <a:ln/>
        </p:spPr>
        <p:txBody>
          <a:bodyPr wrap="square" lIns="0" tIns="0" rIns="0" bIns="101600" rtlCol="0" anchor="t"/>
          <a:lstStyle/>
          <a:p>
            <a:pPr algn="l" indent="0" marL="0">
              <a:spcAft>
                <a:spcPts val="1500"/>
              </a:spcAft>
              <a:buNone/>
            </a:pPr>
            <a:r>
              <a:rPr lang="en-US" sz="2000" b="1" dirty="0">
                <a:solidFill>
                  <a:srgbClr val="277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프로젝트 목적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07950" y="2235101"/>
            <a:ext cx="8290661" cy="2845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spcAft>
                <a:spcPts val="1200"/>
              </a:spcAft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다낭 여행 일정을 실시간으로 관리하고 진행 상황을 확인할 수 있는 모바일 우선 웹 애플리케이션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7950" y="2672060"/>
            <a:ext cx="8290661" cy="406301"/>
          </a:xfrm>
          <a:prstGeom prst="rect">
            <a:avLst/>
          </a:prstGeom>
          <a:noFill/>
          <a:ln/>
        </p:spPr>
        <p:txBody>
          <a:bodyPr wrap="square" lIns="0" tIns="0" rIns="0" bIns="101600" rtlCol="0" anchor="t"/>
          <a:lstStyle/>
          <a:p>
            <a:pPr algn="l" indent="0" marL="0">
              <a:spcAft>
                <a:spcPts val="1500"/>
              </a:spcAft>
              <a:buNone/>
            </a:pPr>
            <a:r>
              <a:rPr lang="en-US" sz="2000" b="1" dirty="0">
                <a:solidFill>
                  <a:srgbClr val="277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핵심 가치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07950" y="3268861"/>
            <a:ext cx="8290661" cy="2845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spcAft>
                <a:spcPts val="1200"/>
              </a:spcAft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여행 중 현재 위치와 일정을 한눈에 파악하여 효율적인 여행 경험 제공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07950" y="3743920"/>
            <a:ext cx="8128099" cy="817959"/>
          </a:xfrm>
          <a:prstGeom prst="roundRect">
            <a:avLst>
              <a:gd name="adj" fmla="val 12421"/>
            </a:avLst>
          </a:prstGeom>
          <a:solidFill>
            <a:srgbClr val="FFF3E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531763" y="3743920"/>
            <a:ext cx="0" cy="817959"/>
          </a:xfrm>
          <a:prstGeom prst="line">
            <a:avLst/>
          </a:prstGeom>
          <a:noFill/>
          <a:ln w="47625">
            <a:solidFill>
              <a:srgbClr val="FE444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6075" y="3934420"/>
            <a:ext cx="7853464" cy="2845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spcAft>
                <a:spcPts val="1200"/>
              </a:spcAft>
              <a:buNone/>
            </a:pPr>
            <a:r>
              <a:rPr lang="en-US" sz="14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주요 특징:</a:t>
            </a:r>
            <a:pPr algn="l" indent="0" marL="0">
              <a:lnSpc>
                <a:spcPts val="2240"/>
              </a:lnSpc>
              <a:spcAft>
                <a:spcPts val="1200"/>
              </a:spcAft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실시간 일정 추적, 위치 기반 서비스, 오프라인 지원, 다크모드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257300"/>
          </a:xfrm>
          <a:prstGeom prst="rect">
            <a:avLst/>
          </a:prstGeom>
          <a:solidFill>
            <a:srgbClr val="5EA8A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47625" y="0"/>
            <a:ext cx="0" cy="1257300"/>
          </a:xfrm>
          <a:prstGeom prst="line">
            <a:avLst/>
          </a:prstGeom>
          <a:noFill/>
          <a:ln w="95250">
            <a:solidFill>
              <a:srgbClr val="FE444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03200" y="381000"/>
            <a:ext cx="8193506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기술 스택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07950" y="1574750"/>
            <a:ext cx="3951021" cy="368201"/>
          </a:xfrm>
          <a:prstGeom prst="rect">
            <a:avLst/>
          </a:prstGeom>
          <a:noFill/>
          <a:ln/>
        </p:spPr>
        <p:txBody>
          <a:bodyPr wrap="square" lIns="0" tIns="0" rIns="0" bIns="101600" rtlCol="0" anchor="t"/>
          <a:lstStyle/>
          <a:p>
            <a:pPr algn="l" indent="0" marL="0">
              <a:spcAft>
                <a:spcPts val="1500"/>
              </a:spcAft>
              <a:buNone/>
            </a:pPr>
            <a:r>
              <a:rPr lang="en-US" sz="1800" b="1" dirty="0">
                <a:solidFill>
                  <a:srgbClr val="277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07950" y="2133451"/>
            <a:ext cx="3873550" cy="1523702"/>
          </a:xfrm>
          <a:prstGeom prst="rect">
            <a:avLst/>
          </a:prstGeom>
          <a:noFill/>
          <a:ln/>
        </p:spPr>
        <p:txBody>
          <a:bodyPr wrap="square" lIns="127000" tIns="0" rIns="0" bIns="0" rtlCol="0" anchor="t"/>
          <a:lstStyle/>
          <a:p>
            <a:pPr algn="l" marL="127000" indent="-127000">
              <a:lnSpc>
                <a:spcPts val="192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Next.js 15 / React 18</a:t>
            </a:r>
            <a:endParaRPr lang="en-US" sz="1200" dirty="0"/>
          </a:p>
          <a:p>
            <a:pPr algn="l" marL="127000" indent="-127000">
              <a:lnSpc>
                <a:spcPts val="192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TypeScript</a:t>
            </a:r>
            <a:endParaRPr lang="en-US" sz="1200" dirty="0"/>
          </a:p>
          <a:p>
            <a:pPr algn="l" marL="127000" indent="-127000">
              <a:lnSpc>
                <a:spcPts val="192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Tailwind CSS / Framer Motion</a:t>
            </a:r>
            <a:endParaRPr lang="en-US" sz="1200" dirty="0"/>
          </a:p>
          <a:p>
            <a:pPr algn="l" marL="127000" indent="-127000">
              <a:lnSpc>
                <a:spcPts val="192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Maps API</a:t>
            </a:r>
            <a:endParaRPr lang="en-US" sz="1200" dirty="0"/>
          </a:p>
          <a:p>
            <a:pPr algn="l" marL="127000" indent="-127000">
              <a:lnSpc>
                <a:spcPts val="192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date-fns / Lucide Icons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762500" y="1574750"/>
            <a:ext cx="3951021" cy="368201"/>
          </a:xfrm>
          <a:prstGeom prst="rect">
            <a:avLst/>
          </a:prstGeom>
          <a:noFill/>
          <a:ln/>
        </p:spPr>
        <p:txBody>
          <a:bodyPr wrap="square" lIns="0" tIns="0" rIns="0" bIns="101600" rtlCol="0" anchor="t"/>
          <a:lstStyle/>
          <a:p>
            <a:pPr algn="l" indent="0" marL="0">
              <a:spcAft>
                <a:spcPts val="1500"/>
              </a:spcAft>
              <a:buNone/>
            </a:pPr>
            <a:r>
              <a:rPr lang="en-US" sz="1800" b="1" dirty="0">
                <a:solidFill>
                  <a:srgbClr val="277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762500" y="2133451"/>
            <a:ext cx="3873550" cy="1523702"/>
          </a:xfrm>
          <a:prstGeom prst="rect">
            <a:avLst/>
          </a:prstGeom>
          <a:noFill/>
          <a:ln/>
        </p:spPr>
        <p:txBody>
          <a:bodyPr wrap="square" lIns="127000" tIns="0" rIns="0" bIns="0" rtlCol="0" anchor="t"/>
          <a:lstStyle/>
          <a:p>
            <a:pPr algn="l" marL="127000" indent="-127000">
              <a:lnSpc>
                <a:spcPts val="192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실시간 위치 추적 (Geolocation)</a:t>
            </a:r>
            <a:endParaRPr lang="en-US" sz="1200" dirty="0"/>
          </a:p>
          <a:p>
            <a:pPr algn="l" marL="127000" indent="-127000">
              <a:lnSpc>
                <a:spcPts val="192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시차 자동 적용</a:t>
            </a:r>
            <a:endParaRPr lang="en-US" sz="1200" dirty="0"/>
          </a:p>
          <a:p>
            <a:pPr algn="l" marL="127000" indent="-127000">
              <a:lnSpc>
                <a:spcPts val="192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로컬 스토리지 (체크인 데이터)</a:t>
            </a:r>
            <a:endParaRPr lang="en-US" sz="1200" dirty="0"/>
          </a:p>
          <a:p>
            <a:pPr algn="l" marL="127000" indent="-127000">
              <a:lnSpc>
                <a:spcPts val="192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다크모드 (시간대별 자동)</a:t>
            </a:r>
            <a:endParaRPr lang="en-US" sz="1200" dirty="0"/>
          </a:p>
          <a:p>
            <a:pPr algn="l" marL="127000" indent="-127000">
              <a:lnSpc>
                <a:spcPts val="192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PWA 지원 / 반응형 디자인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257300"/>
          </a:xfrm>
          <a:prstGeom prst="rect">
            <a:avLst/>
          </a:prstGeom>
          <a:solidFill>
            <a:srgbClr val="5EA8A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47625" y="0"/>
            <a:ext cx="0" cy="1257300"/>
          </a:xfrm>
          <a:prstGeom prst="line">
            <a:avLst/>
          </a:prstGeom>
          <a:noFill/>
          <a:ln w="95250">
            <a:solidFill>
              <a:srgbClr val="FE444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03200" y="381000"/>
            <a:ext cx="8193506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앱 구조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07950" y="1574750"/>
            <a:ext cx="1889224" cy="1044476"/>
          </a:xfrm>
          <a:prstGeom prst="roundRect">
            <a:avLst>
              <a:gd name="adj" fmla="val 9727"/>
            </a:avLst>
          </a:prstGeom>
          <a:solidFill>
            <a:srgbClr val="5EA8A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83368" y="1765250"/>
            <a:ext cx="1538389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홈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83368" y="2104876"/>
            <a:ext cx="1538389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현재 위치 및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여행 진행 상황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587675" y="1574750"/>
            <a:ext cx="1889224" cy="1044476"/>
          </a:xfrm>
          <a:prstGeom prst="roundRect">
            <a:avLst>
              <a:gd name="adj" fmla="val 9727"/>
            </a:avLst>
          </a:prstGeom>
          <a:solidFill>
            <a:srgbClr val="5EA8A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2763092" y="1765250"/>
            <a:ext cx="1538389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지도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763092" y="2104876"/>
            <a:ext cx="1538389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실시간 위치 및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경로 안내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667399" y="1574750"/>
            <a:ext cx="1889224" cy="1044476"/>
          </a:xfrm>
          <a:prstGeom prst="roundRect">
            <a:avLst>
              <a:gd name="adj" fmla="val 9727"/>
            </a:avLst>
          </a:prstGeom>
          <a:solidFill>
            <a:srgbClr val="5EA8A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842817" y="1765250"/>
            <a:ext cx="1538389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일정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842817" y="2104876"/>
            <a:ext cx="1538389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전체 여행 일정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체크인 관리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747123" y="1574750"/>
            <a:ext cx="1889224" cy="1044476"/>
          </a:xfrm>
          <a:prstGeom prst="roundRect">
            <a:avLst>
              <a:gd name="adj" fmla="val 9727"/>
            </a:avLst>
          </a:prstGeom>
          <a:solidFill>
            <a:srgbClr val="5EA8A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6922541" y="1765250"/>
            <a:ext cx="1538389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설정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922541" y="2104876"/>
            <a:ext cx="1538389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테마 및 환경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설정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26669" y="2936677"/>
            <a:ext cx="8290661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277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사용자 플로우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26669" y="3251448"/>
            <a:ext cx="8290661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1200" dirty="0">
                <a:solidFill>
                  <a:srgbClr val="277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26669" y="3566220"/>
            <a:ext cx="8290661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1200" dirty="0">
                <a:solidFill>
                  <a:srgbClr val="277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페이지 접속 → 여행 상태 판단 (여행 전/중/후)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26669" y="3880991"/>
            <a:ext cx="8290661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1200" dirty="0">
                <a:solidFill>
                  <a:srgbClr val="277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26669" y="4195763"/>
            <a:ext cx="8290661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1200" dirty="0">
                <a:solidFill>
                  <a:srgbClr val="277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하단 네비게이션으로 홈/지도/일정/설정 화면 전환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130052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47625" y="0"/>
            <a:ext cx="0" cy="1130052"/>
          </a:xfrm>
          <a:prstGeom prst="line">
            <a:avLst/>
          </a:prstGeom>
          <a:noFill/>
          <a:ln w="95250">
            <a:solidFill>
              <a:srgbClr val="FE444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03200" y="253901"/>
            <a:ext cx="8193506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홈 화면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03200" y="695176"/>
            <a:ext cx="8193506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메인 대시보드 - 여행 진행 상황 한눈에 확인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7950" y="1383953"/>
            <a:ext cx="4015841" cy="292001"/>
          </a:xfrm>
          <a:prstGeom prst="rect">
            <a:avLst/>
          </a:prstGeom>
          <a:noFill/>
          <a:ln/>
        </p:spPr>
        <p:txBody>
          <a:bodyPr wrap="square" lIns="0" tIns="0" rIns="0" bIns="6350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500" b="1" dirty="0">
                <a:solidFill>
                  <a:srgbClr val="277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주요 컴포넌트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07950" y="1802904"/>
            <a:ext cx="3937099" cy="1165324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algn="l" marL="114300" indent="-114300">
              <a:lnSpc>
                <a:spcPts val="1920"/>
              </a:lnSpc>
              <a:spcAft>
                <a:spcPts val="500"/>
              </a:spcAft>
              <a:buSzPct val="100000"/>
              <a:buChar char="•"/>
            </a:pPr>
            <a:r>
              <a:rPr lang="en-US" sz="12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CurrentLocationCard</a:t>
            </a:r>
            <a:pPr algn="l" indent="0" marL="0">
              <a:lnSpc>
                <a:spcPts val="192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현재 위치 표시</a:t>
            </a:r>
            <a:endParaRPr lang="en-US" sz="1200" dirty="0"/>
          </a:p>
          <a:p>
            <a:pPr algn="l" marL="114300" indent="-114300">
              <a:lnSpc>
                <a:spcPts val="1920"/>
              </a:lnSpc>
              <a:spcAft>
                <a:spcPts val="500"/>
              </a:spcAft>
              <a:buSzPct val="100000"/>
              <a:buChar char="•"/>
            </a:pPr>
            <a:r>
              <a:rPr lang="en-US" sz="12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RouteInfoCard</a:t>
            </a:r>
            <a:pPr algn="l" indent="0" marL="0">
              <a:lnSpc>
                <a:spcPts val="192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다음 목적지까지 경로 정보</a:t>
            </a:r>
            <a:endParaRPr lang="en-US" sz="1200" dirty="0"/>
          </a:p>
          <a:p>
            <a:pPr algn="l" marL="114300" indent="-114300">
              <a:lnSpc>
                <a:spcPts val="1920"/>
              </a:lnSpc>
              <a:spcAft>
                <a:spcPts val="500"/>
              </a:spcAft>
              <a:buSzPct val="100000"/>
              <a:buChar char="•"/>
            </a:pPr>
            <a:r>
              <a:rPr lang="en-US" sz="12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MapView</a:t>
            </a:r>
            <a:pPr algn="l" indent="0" marL="0">
              <a:lnSpc>
                <a:spcPts val="192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Google Maps 통합</a:t>
            </a:r>
            <a:endParaRPr lang="en-US" sz="1200" dirty="0"/>
          </a:p>
          <a:p>
            <a:pPr algn="l" marL="114300" indent="-114300">
              <a:lnSpc>
                <a:spcPts val="1920"/>
              </a:lnSpc>
              <a:spcAft>
                <a:spcPts val="500"/>
              </a:spcAft>
              <a:buSzPct val="100000"/>
              <a:buChar char="•"/>
            </a:pPr>
            <a:r>
              <a:rPr lang="en-US" sz="12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TravelProgress</a:t>
            </a:r>
            <a:pPr algn="l" indent="0" marL="0">
              <a:lnSpc>
                <a:spcPts val="192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진행률 원형 차트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7950" y="3145929"/>
            <a:ext cx="4015841" cy="292001"/>
          </a:xfrm>
          <a:prstGeom prst="rect">
            <a:avLst/>
          </a:prstGeom>
          <a:noFill/>
          <a:ln/>
        </p:spPr>
        <p:txBody>
          <a:bodyPr wrap="square" lIns="0" tIns="0" rIns="0" bIns="63500" rtlCol="0" anchor="t"/>
          <a:lstStyle/>
          <a:p>
            <a:pPr algn="l" indent="0" marL="0">
              <a:spcBef>
                <a:spcPts val="1400"/>
              </a:spcBef>
              <a:spcAft>
                <a:spcPts val="1000"/>
              </a:spcAft>
              <a:buNone/>
            </a:pPr>
            <a:r>
              <a:rPr lang="en-US" sz="1500" b="1" dirty="0">
                <a:solidFill>
                  <a:srgbClr val="277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상태별 표시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07950" y="3564880"/>
            <a:ext cx="3937099" cy="858143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algn="l" marL="114300" indent="-114300">
              <a:lnSpc>
                <a:spcPts val="192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여행 전: D-day 카운트다운</a:t>
            </a:r>
            <a:endParaRPr lang="en-US" sz="1200" dirty="0"/>
          </a:p>
          <a:p>
            <a:pPr algn="l" marL="114300" indent="-114300">
              <a:lnSpc>
                <a:spcPts val="192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여행 중: 현재 활동 및 진행률</a:t>
            </a:r>
            <a:endParaRPr lang="en-US" sz="1200" dirty="0"/>
          </a:p>
          <a:p>
            <a:pPr algn="l" marL="114300" indent="-114300">
              <a:lnSpc>
                <a:spcPts val="192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여행 후: 완료 메시지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698950" y="1383953"/>
            <a:ext cx="4015841" cy="292001"/>
          </a:xfrm>
          <a:prstGeom prst="rect">
            <a:avLst/>
          </a:prstGeom>
          <a:noFill/>
          <a:ln/>
        </p:spPr>
        <p:txBody>
          <a:bodyPr wrap="square" lIns="0" tIns="0" rIns="0" bIns="6350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500" b="1" dirty="0">
                <a:solidFill>
                  <a:srgbClr val="277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핵심 기능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698950" y="1802904"/>
            <a:ext cx="3937099" cy="609302"/>
          </a:xfrm>
          <a:prstGeom prst="roundRect">
            <a:avLst>
              <a:gd name="adj" fmla="val 16675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4718000" y="1802904"/>
            <a:ext cx="0" cy="609302"/>
          </a:xfrm>
          <a:prstGeom prst="line">
            <a:avLst/>
          </a:prstGeom>
          <a:noFill/>
          <a:ln w="38100">
            <a:solidFill>
              <a:srgbClr val="FE444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64001" y="1929854"/>
            <a:ext cx="3718000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실시간 진행 상황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864001" y="2107555"/>
            <a:ext cx="3718000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현재 시간을 기준으로 어떤 일정을 진행 중인지 자동 계산하여 표시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698950" y="2539157"/>
            <a:ext cx="3937099" cy="609302"/>
          </a:xfrm>
          <a:prstGeom prst="roundRect">
            <a:avLst>
              <a:gd name="adj" fmla="val 16675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4718000" y="2539157"/>
            <a:ext cx="0" cy="609302"/>
          </a:xfrm>
          <a:prstGeom prst="line">
            <a:avLst/>
          </a:prstGeom>
          <a:noFill/>
          <a:ln w="38100">
            <a:solidFill>
              <a:srgbClr val="FE444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64001" y="2666107"/>
            <a:ext cx="3718000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위치 기반 정보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864001" y="2843808"/>
            <a:ext cx="3718000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사용자의 현재 위치와 다음 목적지까지의 거리, 예상 소요 시간 제공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698950" y="3275409"/>
            <a:ext cx="3937099" cy="787003"/>
          </a:xfrm>
          <a:prstGeom prst="roundRect">
            <a:avLst>
              <a:gd name="adj" fmla="val 12910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Shape 18"/>
          <p:cNvSpPr/>
          <p:nvPr/>
        </p:nvSpPr>
        <p:spPr>
          <a:xfrm>
            <a:off x="4718000" y="3275409"/>
            <a:ext cx="0" cy="787003"/>
          </a:xfrm>
          <a:prstGeom prst="line">
            <a:avLst/>
          </a:prstGeom>
          <a:noFill/>
          <a:ln w="38100">
            <a:solidFill>
              <a:srgbClr val="FE444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64001" y="3402360"/>
            <a:ext cx="3718000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시각적 진행률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864001" y="3580061"/>
            <a:ext cx="3718000" cy="355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원형 프로그레스 바로 전체 여행 일정 대비 현재 진행 상황을 직관적으로 표시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79450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47625" y="0"/>
            <a:ext cx="0" cy="1079450"/>
          </a:xfrm>
          <a:prstGeom prst="line">
            <a:avLst/>
          </a:prstGeom>
          <a:noFill/>
          <a:ln w="95250">
            <a:solidFill>
              <a:srgbClr val="FE444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03200" y="228600"/>
            <a:ext cx="8193506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지도 화면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03200" y="669875"/>
            <a:ext cx="8193506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실시간 위치 추적 및 경로 안내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7950" y="1308050"/>
            <a:ext cx="4015841" cy="292001"/>
          </a:xfrm>
          <a:prstGeom prst="rect">
            <a:avLst/>
          </a:prstGeom>
          <a:noFill/>
          <a:ln/>
        </p:spPr>
        <p:txBody>
          <a:bodyPr wrap="square" lIns="0" tIns="0" rIns="0" bIns="6350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500" b="1" dirty="0">
                <a:solidFill>
                  <a:srgbClr val="277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지도 기능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07950" y="1727002"/>
            <a:ext cx="3937099" cy="1250752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algn="l" marL="114300" indent="-114300">
              <a:lnSpc>
                <a:spcPts val="1650"/>
              </a:lnSpc>
              <a:spcAft>
                <a:spcPts val="400"/>
              </a:spcAft>
              <a:buSzPct val="100000"/>
              <a:buChar char="•"/>
            </a:pPr>
            <a:r>
              <a:rPr lang="en-US" sz="11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Maps 통합</a:t>
            </a:r>
            <a:pPr algn="l" indent="0" marL="0">
              <a:lnSpc>
                <a:spcPts val="1650"/>
              </a:lnSpc>
              <a:spcAft>
                <a:spcPts val="400"/>
              </a:spcAft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실시간 지도 표시</a:t>
            </a:r>
            <a:endParaRPr lang="en-US" sz="1100" dirty="0"/>
          </a:p>
          <a:p>
            <a:pPr algn="l" marL="114300" indent="-114300">
              <a:lnSpc>
                <a:spcPts val="1650"/>
              </a:lnSpc>
              <a:spcAft>
                <a:spcPts val="400"/>
              </a:spcAft>
              <a:buSzPct val="100000"/>
              <a:buChar char="•"/>
            </a:pPr>
            <a:r>
              <a:rPr lang="en-US" sz="11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위치 추적</a:t>
            </a:r>
            <a:pPr algn="l" indent="0" marL="0">
              <a:lnSpc>
                <a:spcPts val="1650"/>
              </a:lnSpc>
              <a:spcAft>
                <a:spcPts val="400"/>
              </a:spcAft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Geolocation API 활용</a:t>
            </a:r>
            <a:endParaRPr lang="en-US" sz="1100" dirty="0"/>
          </a:p>
          <a:p>
            <a:pPr algn="l" marL="114300" indent="-114300">
              <a:lnSpc>
                <a:spcPts val="1650"/>
              </a:lnSpc>
              <a:spcAft>
                <a:spcPts val="400"/>
              </a:spcAft>
              <a:buSzPct val="100000"/>
              <a:buChar char="•"/>
            </a:pPr>
            <a:r>
              <a:rPr lang="en-US" sz="11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마커 표시</a:t>
            </a:r>
            <a:pPr algn="l" indent="0" marL="0">
              <a:lnSpc>
                <a:spcPts val="1650"/>
              </a:lnSpc>
              <a:spcAft>
                <a:spcPts val="400"/>
              </a:spcAft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여행지 위치 마킹</a:t>
            </a:r>
            <a:endParaRPr lang="en-US" sz="1100" dirty="0"/>
          </a:p>
          <a:p>
            <a:pPr algn="l" marL="114300" indent="-114300">
              <a:lnSpc>
                <a:spcPts val="1650"/>
              </a:lnSpc>
              <a:spcAft>
                <a:spcPts val="400"/>
              </a:spcAft>
              <a:buSzPct val="100000"/>
              <a:buChar char="•"/>
            </a:pPr>
            <a:r>
              <a:rPr lang="en-US" sz="11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경로 그리기</a:t>
            </a:r>
            <a:pPr algn="l" indent="0" marL="0">
              <a:lnSpc>
                <a:spcPts val="1650"/>
              </a:lnSpc>
              <a:spcAft>
                <a:spcPts val="400"/>
              </a:spcAft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Polyline으로 이동 경로</a:t>
            </a:r>
            <a:endParaRPr lang="en-US" sz="1100" dirty="0"/>
          </a:p>
          <a:p>
            <a:pPr algn="l" marL="114300" indent="-114300">
              <a:lnSpc>
                <a:spcPts val="1650"/>
              </a:lnSpc>
              <a:spcAft>
                <a:spcPts val="400"/>
              </a:spcAft>
              <a:buSzPct val="100000"/>
              <a:buChar char="•"/>
            </a:pPr>
            <a:r>
              <a:rPr lang="en-US" sz="11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편의시설</a:t>
            </a:r>
            <a:pPr algn="l" indent="0" marL="0">
              <a:lnSpc>
                <a:spcPts val="1650"/>
              </a:lnSpc>
              <a:spcAft>
                <a:spcPts val="400"/>
              </a:spcAft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주변 호텔/편의점/마트/카페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7950" y="3130153"/>
            <a:ext cx="4015841" cy="292001"/>
          </a:xfrm>
          <a:prstGeom prst="rect">
            <a:avLst/>
          </a:prstGeom>
          <a:noFill/>
          <a:ln/>
        </p:spPr>
        <p:txBody>
          <a:bodyPr wrap="square" lIns="0" tIns="0" rIns="0" bIns="63500" rtlCol="0" anchor="t"/>
          <a:lstStyle/>
          <a:p>
            <a:pPr algn="l" indent="0" marL="0">
              <a:spcBef>
                <a:spcPts val="1200"/>
              </a:spcBef>
              <a:spcAft>
                <a:spcPts val="1000"/>
              </a:spcAft>
              <a:buNone/>
            </a:pPr>
            <a:r>
              <a:rPr lang="en-US" sz="1500" b="1" dirty="0">
                <a:solidFill>
                  <a:srgbClr val="277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편의시설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07950" y="3549104"/>
            <a:ext cx="3937099" cy="469850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algn="l" marL="114300" indent="-114300">
              <a:lnSpc>
                <a:spcPts val="165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호텔 시설, 24시간 편의점</a:t>
            </a:r>
            <a:endParaRPr lang="en-US" sz="1100" dirty="0"/>
          </a:p>
          <a:p>
            <a:pPr algn="l" marL="114300" indent="-114300">
              <a:lnSpc>
                <a:spcPts val="165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대형마트, 카페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698950" y="1308050"/>
            <a:ext cx="4015841" cy="292001"/>
          </a:xfrm>
          <a:prstGeom prst="rect">
            <a:avLst/>
          </a:prstGeom>
          <a:noFill/>
          <a:ln/>
        </p:spPr>
        <p:txBody>
          <a:bodyPr wrap="square" lIns="0" tIns="0" rIns="0" bIns="6350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500" b="1" dirty="0">
                <a:solidFill>
                  <a:srgbClr val="277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사용자 인터랙션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698950" y="1727002"/>
            <a:ext cx="3937099" cy="609154"/>
          </a:xfrm>
          <a:prstGeom prst="roundRect">
            <a:avLst>
              <a:gd name="adj" fmla="val 12509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4718000" y="1727002"/>
            <a:ext cx="0" cy="609154"/>
          </a:xfrm>
          <a:prstGeom prst="line">
            <a:avLst/>
          </a:prstGeom>
          <a:noFill/>
          <a:ln w="38100">
            <a:solidFill>
              <a:srgbClr val="5EA8A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51350" y="1841302"/>
            <a:ext cx="3743807" cy="164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위치 추적 토글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851350" y="2056954"/>
            <a:ext cx="3743807" cy="164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버튼 클릭으로 실시간 위치 추적 활성화/비활성화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698950" y="2450455"/>
            <a:ext cx="3937099" cy="609154"/>
          </a:xfrm>
          <a:prstGeom prst="roundRect">
            <a:avLst>
              <a:gd name="adj" fmla="val 12509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4718000" y="2450455"/>
            <a:ext cx="0" cy="609154"/>
          </a:xfrm>
          <a:prstGeom prst="line">
            <a:avLst/>
          </a:prstGeom>
          <a:noFill/>
          <a:ln w="38100">
            <a:solidFill>
              <a:srgbClr val="5EA8A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51350" y="2564755"/>
            <a:ext cx="3743807" cy="164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편의시설 필터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851350" y="2780407"/>
            <a:ext cx="3743807" cy="164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카테고리별 편의시설 표시/숨기기. 바텀시트로 상세 목록 확인 가능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698950" y="3173909"/>
            <a:ext cx="3937099" cy="609154"/>
          </a:xfrm>
          <a:prstGeom prst="roundRect">
            <a:avLst>
              <a:gd name="adj" fmla="val 12509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Shape 18"/>
          <p:cNvSpPr/>
          <p:nvPr/>
        </p:nvSpPr>
        <p:spPr>
          <a:xfrm>
            <a:off x="4718000" y="3173909"/>
            <a:ext cx="0" cy="609154"/>
          </a:xfrm>
          <a:prstGeom prst="line">
            <a:avLst/>
          </a:prstGeom>
          <a:noFill/>
          <a:ln w="38100">
            <a:solidFill>
              <a:srgbClr val="5EA8A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51350" y="3288209"/>
            <a:ext cx="3743807" cy="164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마커 클릭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851350" y="3503861"/>
            <a:ext cx="3743807" cy="164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지도의 마커를 클릭하면 InfoWindow로 장소 정보 표시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698950" y="3897362"/>
            <a:ext cx="3937099" cy="609154"/>
          </a:xfrm>
          <a:prstGeom prst="roundRect">
            <a:avLst>
              <a:gd name="adj" fmla="val 12509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Shape 22"/>
          <p:cNvSpPr/>
          <p:nvPr/>
        </p:nvSpPr>
        <p:spPr>
          <a:xfrm>
            <a:off x="4718000" y="3897362"/>
            <a:ext cx="0" cy="609154"/>
          </a:xfrm>
          <a:prstGeom prst="line">
            <a:avLst/>
          </a:prstGeom>
          <a:noFill/>
          <a:ln w="38100">
            <a:solidFill>
              <a:srgbClr val="5EA8A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51350" y="4011662"/>
            <a:ext cx="3743807" cy="164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다음 일정 안내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851350" y="4227314"/>
            <a:ext cx="3743807" cy="164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현재 위치에서 다음 목적지까지의 거리와 예상 도착 시간(ETA) 제공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79450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47625" y="0"/>
            <a:ext cx="0" cy="1079450"/>
          </a:xfrm>
          <a:prstGeom prst="line">
            <a:avLst/>
          </a:prstGeom>
          <a:noFill/>
          <a:ln w="95250">
            <a:solidFill>
              <a:srgbClr val="FE444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03200" y="228600"/>
            <a:ext cx="8193506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일정 화면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03200" y="669875"/>
            <a:ext cx="8193506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5일간 전체 여행 일정 및 체크인 관리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7950" y="1308050"/>
            <a:ext cx="4015841" cy="292001"/>
          </a:xfrm>
          <a:prstGeom prst="rect">
            <a:avLst/>
          </a:prstGeom>
          <a:noFill/>
          <a:ln/>
        </p:spPr>
        <p:txBody>
          <a:bodyPr wrap="square" lIns="0" tIns="0" rIns="0" bIns="6350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500" b="1" dirty="0">
                <a:solidFill>
                  <a:srgbClr val="277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일정 구조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07950" y="1727002"/>
            <a:ext cx="3937099" cy="1250752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algn="l" marL="114300" indent="-114300">
              <a:lnSpc>
                <a:spcPts val="1650"/>
              </a:lnSpc>
              <a:spcAft>
                <a:spcPts val="400"/>
              </a:spcAft>
              <a:buSzPct val="100000"/>
              <a:buChar char="•"/>
            </a:pPr>
            <a:r>
              <a:rPr lang="en-US" sz="11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1일차:</a:t>
            </a:r>
            <a:pPr algn="l" indent="0" marL="0">
              <a:lnSpc>
                <a:spcPts val="1650"/>
              </a:lnSpc>
              <a:spcAft>
                <a:spcPts val="400"/>
              </a:spcAft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출발 - 공항 - 다낭 도착</a:t>
            </a:r>
            <a:endParaRPr lang="en-US" sz="1100" dirty="0"/>
          </a:p>
          <a:p>
            <a:pPr algn="l" marL="114300" indent="-114300">
              <a:lnSpc>
                <a:spcPts val="1650"/>
              </a:lnSpc>
              <a:spcAft>
                <a:spcPts val="400"/>
              </a:spcAft>
              <a:buSzPct val="100000"/>
              <a:buChar char="•"/>
            </a:pPr>
            <a:r>
              <a:rPr lang="en-US" sz="11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2일차:</a:t>
            </a:r>
            <a:pPr algn="l" indent="0" marL="0">
              <a:lnSpc>
                <a:spcPts val="1650"/>
              </a:lnSpc>
              <a:spcAft>
                <a:spcPts val="400"/>
              </a:spcAft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마사지 - 호이안 투어</a:t>
            </a:r>
            <a:endParaRPr lang="en-US" sz="1100" dirty="0"/>
          </a:p>
          <a:p>
            <a:pPr algn="l" marL="114300" indent="-114300">
              <a:lnSpc>
                <a:spcPts val="1650"/>
              </a:lnSpc>
              <a:spcAft>
                <a:spcPts val="400"/>
              </a:spcAft>
              <a:buSzPct val="100000"/>
              <a:buChar char="•"/>
            </a:pPr>
            <a:r>
              <a:rPr lang="en-US" sz="11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3일차:</a:t>
            </a:r>
            <a:pPr algn="l" indent="0" marL="0">
              <a:lnSpc>
                <a:spcPts val="1650"/>
              </a:lnSpc>
              <a:spcAft>
                <a:spcPts val="400"/>
              </a:spcAft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바나힐스 - 미케비치</a:t>
            </a:r>
            <a:endParaRPr lang="en-US" sz="1100" dirty="0"/>
          </a:p>
          <a:p>
            <a:pPr algn="l" marL="114300" indent="-114300">
              <a:lnSpc>
                <a:spcPts val="1650"/>
              </a:lnSpc>
              <a:spcAft>
                <a:spcPts val="400"/>
              </a:spcAft>
              <a:buSzPct val="100000"/>
              <a:buChar char="•"/>
            </a:pPr>
            <a:r>
              <a:rPr lang="en-US" sz="11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4일차:</a:t>
            </a:r>
            <a:pPr algn="l" indent="0" marL="0">
              <a:lnSpc>
                <a:spcPts val="1650"/>
              </a:lnSpc>
              <a:spcAft>
                <a:spcPts val="400"/>
              </a:spcAft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대성당 - 야시장 - 출발</a:t>
            </a:r>
            <a:endParaRPr lang="en-US" sz="1100" dirty="0"/>
          </a:p>
          <a:p>
            <a:pPr algn="l" marL="114300" indent="-114300">
              <a:lnSpc>
                <a:spcPts val="1650"/>
              </a:lnSpc>
              <a:spcAft>
                <a:spcPts val="400"/>
              </a:spcAft>
              <a:buSzPct val="100000"/>
              <a:buChar char="•"/>
            </a:pPr>
            <a:r>
              <a:rPr lang="en-US" sz="11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5일차:</a:t>
            </a:r>
            <a:pPr algn="l" indent="0" marL="0">
              <a:lnSpc>
                <a:spcPts val="1650"/>
              </a:lnSpc>
              <a:spcAft>
                <a:spcPts val="400"/>
              </a:spcAft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인천 도착 - 귀국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698950" y="1308050"/>
            <a:ext cx="4015841" cy="292001"/>
          </a:xfrm>
          <a:prstGeom prst="rect">
            <a:avLst/>
          </a:prstGeom>
          <a:noFill/>
          <a:ln/>
        </p:spPr>
        <p:txBody>
          <a:bodyPr wrap="square" lIns="0" tIns="0" rIns="0" bIns="6350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500" b="1" dirty="0">
                <a:solidFill>
                  <a:srgbClr val="277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상태 관리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698950" y="1727002"/>
            <a:ext cx="3937099" cy="990451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algn="l" marL="114300" indent="-114300">
              <a:lnSpc>
                <a:spcPts val="165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완료 / 진행중 / 예정 상태 표시</a:t>
            </a:r>
            <a:endParaRPr lang="en-US" sz="1100" dirty="0"/>
          </a:p>
          <a:p>
            <a:pPr algn="l" marL="114300" indent="-114300">
              <a:lnSpc>
                <a:spcPts val="165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각 활동별 수동 체크인</a:t>
            </a:r>
            <a:endParaRPr lang="en-US" sz="1100" dirty="0"/>
          </a:p>
          <a:p>
            <a:pPr algn="l" marL="114300" indent="-114300">
              <a:lnSpc>
                <a:spcPts val="165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localStorage 저장 및 유지</a:t>
            </a:r>
            <a:endParaRPr lang="en-US" sz="1100" dirty="0"/>
          </a:p>
          <a:p>
            <a:pPr algn="l" marL="114300" indent="-114300">
              <a:lnSpc>
                <a:spcPts val="165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새로고침 후에도 상태 보존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698950" y="2869853"/>
            <a:ext cx="4015841" cy="292001"/>
          </a:xfrm>
          <a:prstGeom prst="rect">
            <a:avLst/>
          </a:prstGeom>
          <a:noFill/>
          <a:ln/>
        </p:spPr>
        <p:txBody>
          <a:bodyPr wrap="square" lIns="0" tIns="0" rIns="0" bIns="63500" rtlCol="0" anchor="t"/>
          <a:lstStyle/>
          <a:p>
            <a:pPr algn="l" indent="0" marL="0">
              <a:spcBef>
                <a:spcPts val="1200"/>
              </a:spcBef>
              <a:spcAft>
                <a:spcPts val="1000"/>
              </a:spcAft>
              <a:buNone/>
            </a:pPr>
            <a:r>
              <a:rPr lang="en-US" sz="1500" b="1" dirty="0">
                <a:solidFill>
                  <a:srgbClr val="277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표시 정보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698950" y="3288804"/>
            <a:ext cx="3937099" cy="730151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algn="l" marL="114300" indent="-114300">
              <a:lnSpc>
                <a:spcPts val="165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시간, 위치, 설명, 팁</a:t>
            </a:r>
            <a:endParaRPr lang="en-US" sz="1100" dirty="0"/>
          </a:p>
          <a:p>
            <a:pPr algn="l" marL="114300" indent="-114300">
              <a:lnSpc>
                <a:spcPts val="165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식사 정보 및 이미지</a:t>
            </a:r>
            <a:endParaRPr lang="en-US" sz="1100" dirty="0"/>
          </a:p>
          <a:p>
            <a:pPr algn="l" marL="114300" indent="-114300">
              <a:lnSpc>
                <a:spcPts val="165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체크인 토글 및 하이라이트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79450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47625" y="0"/>
            <a:ext cx="0" cy="1079450"/>
          </a:xfrm>
          <a:prstGeom prst="line">
            <a:avLst/>
          </a:prstGeom>
          <a:noFill/>
          <a:ln w="95250">
            <a:solidFill>
              <a:srgbClr val="FE444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03200" y="228600"/>
            <a:ext cx="8193506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설정 화면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03200" y="669875"/>
            <a:ext cx="8193506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앱 환경 설정 및 테스트 모드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7950" y="1308050"/>
            <a:ext cx="4015841" cy="292001"/>
          </a:xfrm>
          <a:prstGeom prst="rect">
            <a:avLst/>
          </a:prstGeom>
          <a:noFill/>
          <a:ln/>
        </p:spPr>
        <p:txBody>
          <a:bodyPr wrap="square" lIns="0" tIns="0" rIns="0" bIns="6350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500" b="1" dirty="0">
                <a:solidFill>
                  <a:srgbClr val="277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테마 설정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07950" y="1727002"/>
            <a:ext cx="3937099" cy="730151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algn="l" marL="114300" indent="-114300">
              <a:lnSpc>
                <a:spcPts val="1650"/>
              </a:lnSpc>
              <a:spcAft>
                <a:spcPts val="400"/>
              </a:spcAft>
              <a:buSzPct val="100000"/>
              <a:buChar char="•"/>
            </a:pPr>
            <a:r>
              <a:rPr lang="en-US" sz="11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라이트 모드</a:t>
            </a:r>
            <a:pPr algn="l" indent="0" marL="0">
              <a:lnSpc>
                <a:spcPts val="1650"/>
              </a:lnSpc>
              <a:spcAft>
                <a:spcPts val="400"/>
              </a:spcAft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밝은 테마</a:t>
            </a:r>
            <a:endParaRPr lang="en-US" sz="1100" dirty="0"/>
          </a:p>
          <a:p>
            <a:pPr algn="l" marL="114300" indent="-114300">
              <a:lnSpc>
                <a:spcPts val="1650"/>
              </a:lnSpc>
              <a:spcAft>
                <a:spcPts val="400"/>
              </a:spcAft>
              <a:buSzPct val="100000"/>
              <a:buChar char="•"/>
            </a:pPr>
            <a:r>
              <a:rPr lang="en-US" sz="11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다크 모드</a:t>
            </a:r>
            <a:pPr algn="l" indent="0" marL="0">
              <a:lnSpc>
                <a:spcPts val="1650"/>
              </a:lnSpc>
              <a:spcAft>
                <a:spcPts val="400"/>
              </a:spcAft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어두운 테마</a:t>
            </a:r>
            <a:endParaRPr lang="en-US" sz="1100" dirty="0"/>
          </a:p>
          <a:p>
            <a:pPr algn="l" marL="114300" indent="-114300">
              <a:lnSpc>
                <a:spcPts val="1650"/>
              </a:lnSpc>
              <a:spcAft>
                <a:spcPts val="400"/>
              </a:spcAft>
              <a:buSzPct val="100000"/>
              <a:buChar char="•"/>
            </a:pPr>
            <a:r>
              <a:rPr lang="en-US" sz="11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자동 모드</a:t>
            </a:r>
            <a:pPr algn="l" indent="0" marL="0">
              <a:lnSpc>
                <a:spcPts val="1650"/>
              </a:lnSpc>
              <a:spcAft>
                <a:spcPts val="400"/>
              </a:spcAft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시간대별 자동 전환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7950" y="2507903"/>
            <a:ext cx="3937099" cy="367903"/>
          </a:xfrm>
          <a:prstGeom prst="roundRect">
            <a:avLst>
              <a:gd name="adj" fmla="val 20712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634901" y="2609404"/>
            <a:ext cx="3756862" cy="164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18:00 ~ 06:00 사이 다크모드 자동 활성화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07950" y="3028206"/>
            <a:ext cx="4015841" cy="292001"/>
          </a:xfrm>
          <a:prstGeom prst="rect">
            <a:avLst/>
          </a:prstGeom>
          <a:noFill/>
          <a:ln/>
        </p:spPr>
        <p:txBody>
          <a:bodyPr wrap="square" lIns="0" tIns="0" rIns="0" bIns="63500" rtlCol="0" anchor="t"/>
          <a:lstStyle/>
          <a:p>
            <a:pPr algn="l" indent="0" marL="0">
              <a:spcBef>
                <a:spcPts val="1200"/>
              </a:spcBef>
              <a:spcAft>
                <a:spcPts val="1000"/>
              </a:spcAft>
              <a:buNone/>
            </a:pPr>
            <a:r>
              <a:rPr lang="en-US" sz="1500" b="1" dirty="0">
                <a:solidFill>
                  <a:srgbClr val="277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알림 및 위치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07950" y="3447157"/>
            <a:ext cx="3937099" cy="469850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algn="l" marL="114300" indent="-114300">
              <a:lnSpc>
                <a:spcPts val="165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알림 - 일정 알림 토글</a:t>
            </a:r>
            <a:endParaRPr lang="en-US" sz="1100" dirty="0"/>
          </a:p>
          <a:p>
            <a:pPr algn="l" marL="114300" indent="-114300">
              <a:lnSpc>
                <a:spcPts val="165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위치 추적 - 실시간 위치 공유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698950" y="1308050"/>
            <a:ext cx="4015841" cy="292001"/>
          </a:xfrm>
          <a:prstGeom prst="rect">
            <a:avLst/>
          </a:prstGeom>
          <a:noFill/>
          <a:ln/>
        </p:spPr>
        <p:txBody>
          <a:bodyPr wrap="square" lIns="0" tIns="0" rIns="0" bIns="6350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500" b="1" dirty="0">
                <a:solidFill>
                  <a:srgbClr val="277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테스트 모드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698950" y="1727002"/>
            <a:ext cx="3937099" cy="990451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algn="l" marL="114300" indent="-114300">
              <a:lnSpc>
                <a:spcPts val="165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개발/테스트용 시간 설정</a:t>
            </a:r>
            <a:endParaRPr lang="en-US" sz="1100" dirty="0"/>
          </a:p>
          <a:p>
            <a:pPr algn="l" marL="114300" indent="-114300">
              <a:lnSpc>
                <a:spcPts val="165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특정 날짜/시간으로 이동</a:t>
            </a:r>
            <a:endParaRPr lang="en-US" sz="1100" dirty="0"/>
          </a:p>
          <a:p>
            <a:pPr algn="l" marL="114300" indent="-114300">
              <a:lnSpc>
                <a:spcPts val="165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여행 진행 상황 시뮬레이션</a:t>
            </a:r>
            <a:endParaRPr lang="en-US" sz="1100" dirty="0"/>
          </a:p>
          <a:p>
            <a:pPr algn="l" marL="114300" indent="-114300">
              <a:lnSpc>
                <a:spcPts val="165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localStorage 저장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698950" y="2869853"/>
            <a:ext cx="4015841" cy="292001"/>
          </a:xfrm>
          <a:prstGeom prst="rect">
            <a:avLst/>
          </a:prstGeom>
          <a:noFill/>
          <a:ln/>
        </p:spPr>
        <p:txBody>
          <a:bodyPr wrap="square" lIns="0" tIns="0" rIns="0" bIns="63500" rtlCol="0" anchor="t"/>
          <a:lstStyle/>
          <a:p>
            <a:pPr algn="l" indent="0" marL="0">
              <a:spcBef>
                <a:spcPts val="1200"/>
              </a:spcBef>
              <a:spcAft>
                <a:spcPts val="1000"/>
              </a:spcAft>
              <a:buNone/>
            </a:pPr>
            <a:r>
              <a:rPr lang="en-US" sz="1500" b="1" dirty="0">
                <a:solidFill>
                  <a:srgbClr val="277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빠른 테스트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698950" y="3288804"/>
            <a:ext cx="3937099" cy="730151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algn="l" marL="114300" indent="-114300">
              <a:lnSpc>
                <a:spcPts val="165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1일차 시작, 2일차 마사지</a:t>
            </a:r>
            <a:endParaRPr lang="en-US" sz="1100" dirty="0"/>
          </a:p>
          <a:p>
            <a:pPr algn="l" marL="114300" indent="-114300">
              <a:lnSpc>
                <a:spcPts val="165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3일차 바나힐스, 4일차 대성당</a:t>
            </a:r>
            <a:endParaRPr lang="en-US" sz="1100" dirty="0"/>
          </a:p>
          <a:p>
            <a:pPr algn="l" marL="114300" indent="-114300">
              <a:lnSpc>
                <a:spcPts val="165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5일차 귀국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47725"/>
          </a:xfrm>
          <a:prstGeom prst="rect">
            <a:avLst/>
          </a:prstGeom>
          <a:solidFill>
            <a:srgbClr val="5EA8A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47625" y="0"/>
            <a:ext cx="0" cy="847725"/>
          </a:xfrm>
          <a:prstGeom prst="line">
            <a:avLst/>
          </a:prstGeom>
          <a:noFill/>
          <a:ln w="95250">
            <a:solidFill>
              <a:srgbClr val="FE444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03200" y="228600"/>
            <a:ext cx="8193506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주요 기능 요약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07950" y="1076325"/>
            <a:ext cx="4260800" cy="695027"/>
          </a:xfrm>
          <a:prstGeom prst="roundRect">
            <a:avLst>
              <a:gd name="adj" fmla="val 14618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527000" y="1076325"/>
            <a:ext cx="0" cy="695027"/>
          </a:xfrm>
          <a:prstGeom prst="line">
            <a:avLst/>
          </a:prstGeom>
          <a:noFill/>
          <a:ln w="38100">
            <a:solidFill>
              <a:srgbClr val="5EA8A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73001" y="1203275"/>
            <a:ext cx="404817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277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실시간 일정 추적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73001" y="1479500"/>
            <a:ext cx="4048176" cy="164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현재 시간 기준 여행 진행 상황 자동 계산 표시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07950" y="1961852"/>
            <a:ext cx="4260800" cy="695027"/>
          </a:xfrm>
          <a:prstGeom prst="roundRect">
            <a:avLst>
              <a:gd name="adj" fmla="val 14618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527000" y="1961852"/>
            <a:ext cx="0" cy="695027"/>
          </a:xfrm>
          <a:prstGeom prst="line">
            <a:avLst/>
          </a:prstGeom>
          <a:noFill/>
          <a:ln w="38100">
            <a:solidFill>
              <a:srgbClr val="5EA8A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73001" y="2088803"/>
            <a:ext cx="404817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277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위치 기반 서비스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73001" y="2365028"/>
            <a:ext cx="4048176" cy="164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Geolocation API 실시간 위치 추적 및 경로 안내. 주변 편의시설 찾기 기능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07950" y="2847380"/>
            <a:ext cx="4260800" cy="695027"/>
          </a:xfrm>
          <a:prstGeom prst="roundRect">
            <a:avLst>
              <a:gd name="adj" fmla="val 14618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527000" y="2847380"/>
            <a:ext cx="0" cy="695027"/>
          </a:xfrm>
          <a:prstGeom prst="line">
            <a:avLst/>
          </a:prstGeom>
          <a:noFill/>
          <a:ln w="38100">
            <a:solidFill>
              <a:srgbClr val="5EA8A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73001" y="2974330"/>
            <a:ext cx="404817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277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체크인 및 상태 관리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73001" y="3250555"/>
            <a:ext cx="4048176" cy="164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활동별 체크인, 상태 표시, localStorage 저장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07950" y="3732907"/>
            <a:ext cx="4260800" cy="695027"/>
          </a:xfrm>
          <a:prstGeom prst="roundRect">
            <a:avLst>
              <a:gd name="adj" fmla="val 14618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527000" y="3732907"/>
            <a:ext cx="0" cy="695027"/>
          </a:xfrm>
          <a:prstGeom prst="line">
            <a:avLst/>
          </a:prstGeom>
          <a:noFill/>
          <a:ln w="38100">
            <a:solidFill>
              <a:srgbClr val="5EA8A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73001" y="3859857"/>
            <a:ext cx="404817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277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다크모드 및 시차 적용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73001" y="4136082"/>
            <a:ext cx="4048176" cy="164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시간대별 자동 전환, 한국-베트남 시차 자동 계산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51530" y="70842"/>
            <a:ext cx="2240941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3000"/>
              </a:spcAft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감사합니다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1819275" y="1070967"/>
            <a:ext cx="5505301" cy="3296692"/>
          </a:xfrm>
          <a:prstGeom prst="roundRect">
            <a:avLst>
              <a:gd name="adj" fmla="val 4623"/>
            </a:avLst>
          </a:prstGeom>
          <a:solidFill>
            <a:srgbClr val="FFFFFF">
              <a:alpha val="15000"/>
            </a:srgbClr>
          </a:solidFill>
          <a:ln w="19050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2301762" y="1471017"/>
            <a:ext cx="4540326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500"/>
              </a:spcAft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프로젝트 정보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2301762" y="1966317"/>
            <a:ext cx="4540326" cy="2845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24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다낭 여행 플래너 웹 애플리케이션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301762" y="2352377"/>
            <a:ext cx="4540326" cy="2845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24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2026.01.15 - 01.19 (5일간)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063901" y="2890838"/>
            <a:ext cx="1015901" cy="50750"/>
          </a:xfrm>
          <a:prstGeom prst="roundRect">
            <a:avLst>
              <a:gd name="adj" fmla="val 50049"/>
            </a:avLst>
          </a:prstGeom>
          <a:solidFill>
            <a:srgbClr val="FE444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2301762" y="3195489"/>
            <a:ext cx="4540326" cy="2845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240"/>
              </a:lnSpc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기술 스택:</a:t>
            </a:r>
            <a:pPr algn="ctr" indent="0" marL="0">
              <a:lnSpc>
                <a:spcPts val="224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Next.js 15, React 18, TypeScript, Tailwind CSS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301762" y="3581549"/>
            <a:ext cx="4540326" cy="2845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240"/>
              </a:lnSpc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주요 기능:</a:t>
            </a:r>
            <a:pPr algn="ctr" indent="0" marL="0">
              <a:lnSpc>
                <a:spcPts val="224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실시간 일정 추적, 위치 기반 서비스, 다크모드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910185" y="4748659"/>
            <a:ext cx="33899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Travel Plan Application Screen Design Document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다낭 여행 플래너 화면설계서</dc:title>
  <dc:subject>PptxGenJS Presentation</dc:subject>
  <dc:creator>Travel Plan Team</dc:creator>
  <cp:lastModifiedBy>Travel Plan Team</cp:lastModifiedBy>
  <cp:revision>1</cp:revision>
  <dcterms:created xsi:type="dcterms:W3CDTF">2026-01-07T13:01:49Z</dcterms:created>
  <dcterms:modified xsi:type="dcterms:W3CDTF">2026-01-07T13:01:49Z</dcterms:modified>
</cp:coreProperties>
</file>